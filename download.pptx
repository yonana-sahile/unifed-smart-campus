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handoutMasterIdLst>
    <p:handoutMasterId r:id="rId41"/>
  </p:handoutMasterIdLst>
  <p:sldIdLst>
    <p:sldId id="256" r:id="rId4"/>
    <p:sldId id="262" r:id="rId5"/>
    <p:sldId id="263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30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30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handoutMaster" Target="handoutMasters/handoutMaster1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75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4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3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 userDrawn="1">
            <p:custDataLst>
              <p:tags r:id="rId14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8.xml"/><Relationship Id="rId3" Type="http://schemas.openxmlformats.org/officeDocument/2006/relationships/image" Target="../media/image1.jpe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tags" Target="../tags/tag12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tags" Target="../tags/tag16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tags" Target="../tags/tag173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MEKDELA AMBA UNIVERSITY</a:t>
            </a:r>
            <a:br>
              <a:rPr lang="en-US" altLang="en-US" sz="4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4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College of Computing &amp; Informatics</a:t>
            </a:r>
            <a:br>
              <a:rPr lang="en-US" altLang="en-US" sz="4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</a:br>
            <a:r>
              <a:rPr lang="en-US" altLang="en-US" sz="40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Software Engineering Department</a:t>
            </a:r>
            <a:endParaRPr lang="en-US" sz="400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870710" y="4790440"/>
            <a:ext cx="7492365" cy="1833245"/>
          </a:xfrm>
        </p:spPr>
        <p:txBody>
          <a:bodyPr>
            <a:normAutofit fontScale="55000"/>
          </a:bodyPr>
          <a:lstStyle/>
          <a:p>
            <a:r>
              <a:rPr lang="en-US">
                <a:sym typeface="+mn-ea"/>
              </a:rPr>
              <a:t>Prepared by</a:t>
            </a:r>
            <a:endParaRPr lang="en-US">
              <a:sym typeface="+mn-ea"/>
            </a:endParaRPr>
          </a:p>
          <a:p>
            <a:r>
              <a:rPr lang="en-US" altLang="en-US">
                <a:sym typeface="+mn-ea"/>
              </a:rPr>
              <a:t>1.  SAMUEL ADMASU  _____________________1402099</a:t>
            </a:r>
            <a:endParaRPr lang="en-US" altLang="en-US"/>
          </a:p>
          <a:p>
            <a:r>
              <a:rPr lang="en-US" altLang="en-US">
                <a:sym typeface="+mn-ea"/>
              </a:rPr>
              <a:t> 2.  SNTAYEHU ALEMAYEHU   ___________1402235</a:t>
            </a:r>
            <a:endParaRPr lang="en-US" altLang="en-US"/>
          </a:p>
          <a:p>
            <a:r>
              <a:rPr lang="en-US" altLang="en-US">
                <a:sym typeface="+mn-ea"/>
              </a:rPr>
              <a:t>3 . TADESSE MERSHA ____________________1402271</a:t>
            </a:r>
            <a:endParaRPr lang="en-US" altLang="en-US"/>
          </a:p>
          <a:p>
            <a:r>
              <a:rPr lang="en-US" altLang="en-US">
                <a:sym typeface="+mn-ea"/>
              </a:rPr>
              <a:t> 4. TAREKEGN ABEBE  ____________________1402284</a:t>
            </a:r>
            <a:endParaRPr lang="en-US" altLang="en-US"/>
          </a:p>
          <a:p>
            <a:r>
              <a:rPr lang="en-US" altLang="en-US">
                <a:sym typeface="+mn-ea"/>
              </a:rPr>
              <a:t>5. YONAS HABTAMU _____________________1402527</a:t>
            </a:r>
            <a:endParaRPr lang="en-US"/>
          </a:p>
          <a:p>
            <a:endParaRPr lang="en-US"/>
          </a:p>
        </p:txBody>
      </p:sp>
      <p:pic>
        <p:nvPicPr>
          <p:cNvPr id="6" name="Picture 5" descr="Mekdela_Amba_University_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63500"/>
            <a:ext cx="2438400" cy="24479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Introduction to Reliability Models &amp; Metrics</a:t>
            </a:r>
          </a:p>
        </p:txBody>
      </p:sp>
      <p:sp>
        <p:nvSpPr>
          <p:cNvPr id="44" name="任意多边形: 形状 43"/>
          <p:cNvSpPr/>
          <p:nvPr>
            <p:custDataLst>
              <p:tags r:id="rId2"/>
            </p:custDataLst>
          </p:nvPr>
        </p:nvSpPr>
        <p:spPr>
          <a:xfrm>
            <a:off x="1001021" y="3917676"/>
            <a:ext cx="4909100" cy="1818990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+mn-lt"/>
                <a:sym typeface="+mn-ea"/>
              </a:rPr>
              <a:t>Metrics help measure system performance</a:t>
            </a:r>
            <a:endParaRPr lang="en-US" sz="160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36" name="任意多边形: 形状 35"/>
          <p:cNvSpPr/>
          <p:nvPr>
            <p:custDataLst>
              <p:tags r:id="rId3"/>
            </p:custDataLst>
          </p:nvPr>
        </p:nvSpPr>
        <p:spPr>
          <a:xfrm>
            <a:off x="1001021" y="1685357"/>
            <a:ext cx="4909100" cy="1818990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+mn-lt"/>
                <a:sym typeface="+mn-ea"/>
              </a:rPr>
              <a:t>Software systems must perform without failure</a:t>
            </a:r>
            <a:endParaRPr lang="en-US" sz="1600" dirty="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41" name="任意多边形: 形状 40"/>
          <p:cNvSpPr/>
          <p:nvPr>
            <p:custDataLst>
              <p:tags r:id="rId4"/>
            </p:custDataLst>
          </p:nvPr>
        </p:nvSpPr>
        <p:spPr>
          <a:xfrm>
            <a:off x="6596752" y="1685357"/>
            <a:ext cx="4909100" cy="1818990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+mn-lt"/>
                <a:sym typeface="+mn-ea"/>
              </a:rPr>
              <a:t>Reliability models help predict failures</a:t>
            </a:r>
            <a:endParaRPr lang="en-US" sz="160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45" name="椭圆 44"/>
          <p:cNvSpPr/>
          <p:nvPr>
            <p:custDataLst>
              <p:tags r:id="rId5"/>
            </p:custDataLst>
          </p:nvPr>
        </p:nvSpPr>
        <p:spPr>
          <a:xfrm>
            <a:off x="697914" y="4502921"/>
            <a:ext cx="648562" cy="6485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37" name="椭圆 36"/>
          <p:cNvSpPr/>
          <p:nvPr>
            <p:custDataLst>
              <p:tags r:id="rId6"/>
            </p:custDataLst>
          </p:nvPr>
        </p:nvSpPr>
        <p:spPr>
          <a:xfrm>
            <a:off x="697914" y="2269967"/>
            <a:ext cx="648562" cy="6485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42" name="椭圆 41"/>
          <p:cNvSpPr/>
          <p:nvPr>
            <p:custDataLst>
              <p:tags r:id="rId7"/>
            </p:custDataLst>
          </p:nvPr>
        </p:nvSpPr>
        <p:spPr>
          <a:xfrm>
            <a:off x="6293009" y="2269967"/>
            <a:ext cx="648562" cy="6485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47" name="任意多边形: 形状 46"/>
          <p:cNvSpPr/>
          <p:nvPr>
            <p:custDataLst>
              <p:tags r:id="rId8"/>
            </p:custDataLst>
          </p:nvPr>
        </p:nvSpPr>
        <p:spPr>
          <a:xfrm>
            <a:off x="6596752" y="3917676"/>
            <a:ext cx="4909100" cy="1818990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+mn-lt"/>
                <a:sym typeface="+mn-ea"/>
              </a:rPr>
              <a:t>Together they support better software quality</a:t>
            </a:r>
            <a:endParaRPr lang="en-US" sz="160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48" name="椭圆 47"/>
          <p:cNvSpPr/>
          <p:nvPr>
            <p:custDataLst>
              <p:tags r:id="rId9"/>
            </p:custDataLst>
          </p:nvPr>
        </p:nvSpPr>
        <p:spPr>
          <a:xfrm>
            <a:off x="6293009" y="4502921"/>
            <a:ext cx="648562" cy="64856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What are Software Reliability Metrics?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Quantitative measures of system reliability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</a:rPr>
              <a:t>Used to evaluate:</a:t>
            </a:r>
            <a:endParaRPr lang="en-US" altLang="en-US">
              <a:solidFill>
                <a:schemeClr val="accent1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System stability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Failure frequency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/>
              <a:t>Repair efficiency</a:t>
            </a:r>
            <a:endParaRPr lang="en-US" altLang="en-US"/>
          </a:p>
          <a:p>
            <a:r>
              <a:rPr lang="en-US" altLang="en-US"/>
              <a:t>Help developers make data-driven decisions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Key Reliability Metrics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Mean Time To Failure (MTTF)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Mean Time To Repair (MTTR)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Mean Time Between Failures (MTBF)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Failure Rate (λ)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Reliability Function R(t)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Mean Time To Failure (MTTF)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  <a:sym typeface="+mn-ea"/>
              </a:rPr>
              <a:t>DEFINITION:</a:t>
            </a:r>
            <a:endParaRPr lang="en-US" altLang="en-US">
              <a:solidFill>
                <a:schemeClr val="accent3"/>
              </a:solidFill>
              <a:sym typeface="+mn-ea"/>
            </a:endParaRPr>
          </a:p>
          <a:p>
            <a:r>
              <a:rPr lang="en-US" altLang="en-US">
                <a:solidFill>
                  <a:schemeClr val="tx1"/>
                </a:solidFill>
                <a:sym typeface="+mn-ea"/>
              </a:rPr>
              <a:t>Average operating time before a system fails (excluding repair time)</a:t>
            </a:r>
            <a:endParaRPr lang="en-US" altLang="en-US">
              <a:solidFill>
                <a:schemeClr val="tx1"/>
              </a:solidFill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  <a:sym typeface="+mn-ea"/>
              </a:rPr>
              <a:t>Formula:</a:t>
            </a:r>
            <a:endParaRPr lang="en-US" altLang="en-US">
              <a:solidFill>
                <a:schemeClr val="accent3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>
                <a:sym typeface="+mn-ea"/>
              </a:rPr>
              <a:t> MTTF = Total Operating Time / Number of Failures</a:t>
            </a:r>
            <a:endParaRPr lang="en-US" altLang="en-US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KEY INSIGHT:</a:t>
            </a:r>
            <a:endParaRPr lang="en-US" altLang="en-US">
              <a:solidFill>
                <a:schemeClr val="accent3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>
                <a:sym typeface="+mn-ea"/>
              </a:rPr>
              <a:t>  Higher MTTF = More reliable system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Mean Time To Repair (MTTR)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  <a:sym typeface="+mn-ea"/>
              </a:rPr>
              <a:t>DEFINITION: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Average time required to fix a failure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  <a:sym typeface="+mn-ea"/>
              </a:rPr>
              <a:t>Formula: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>
                <a:sym typeface="+mn-ea"/>
              </a:rPr>
              <a:t>MTTR = Total Repair Time / Number of Repairs</a:t>
            </a:r>
            <a:endParaRPr lang="en-US" altLang="en-US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KEY INSIGHT: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>
                <a:sym typeface="+mn-ea"/>
              </a:rPr>
              <a:t>Lower MTTR = Faster recovery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Mean Time Between Failures (MTBF)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  <a:sym typeface="+mn-ea"/>
              </a:rPr>
              <a:t>DEFINITION:</a:t>
            </a:r>
            <a:endParaRPr lang="en-US" altLang="en-US">
              <a:solidFill>
                <a:schemeClr val="accent3"/>
              </a:solidFill>
              <a:sym typeface="+mn-ea"/>
            </a:endParaRPr>
          </a:p>
          <a:p>
            <a:r>
              <a:rPr lang="en-US" altLang="en-US">
                <a:sym typeface="+mn-ea"/>
              </a:rPr>
              <a:t>Time between two consecutive failures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  <a:sym typeface="+mn-ea"/>
              </a:rPr>
              <a:t>Formula: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>
                <a:sym typeface="+mn-ea"/>
              </a:rPr>
              <a:t>MTBF = MTTF + MTTR</a:t>
            </a:r>
            <a:endParaRPr lang="en-US" altLang="en-US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PURPOSE: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>
                <a:sym typeface="+mn-ea"/>
              </a:rPr>
              <a:t>Indicates overall system availability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Failure Rate (λ)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DEFINITION: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Number of failures per unit time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FORMULA: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λ = Number of Failures / Time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UNITS:</a:t>
            </a:r>
            <a:endParaRPr lang="en-US" altLang="en-US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altLang="en-US"/>
              <a:t>• Failures per hour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Failures per CPU hour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Failures per 1000 transactions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KEY INSIGHT: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LOWER failure rate = BETTER reliability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Reliability Function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0000"/>
          </a:bodyPr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DEFINITION: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Probability system operates without failure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FORMULA: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R(t) = e^(-λt)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WHERE: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R(t) = Reliability at time t</a:t>
            </a:r>
            <a:endParaRPr lang="en-US" altLang="en-US"/>
          </a:p>
          <a:p>
            <a:r>
              <a:rPr lang="en-US" altLang="en-US"/>
              <a:t>e = Euler's number (≈ 2.718)</a:t>
            </a:r>
            <a:endParaRPr lang="en-US" altLang="en-US"/>
          </a:p>
          <a:p>
            <a:r>
              <a:rPr lang="en-US" altLang="en-US"/>
              <a:t>λ = Failure rate (failures per unit time)</a:t>
            </a:r>
            <a:endParaRPr lang="en-US" altLang="en-US"/>
          </a:p>
          <a:p>
            <a:r>
              <a:rPr lang="en-US" altLang="en-US"/>
              <a:t>t = Time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PURPOSE: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Used to predict system performance over time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Numerical Example: MTTF → Reliability Calculation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Problem:</a:t>
            </a:r>
            <a:endParaRPr lang="en-US" altLang="en-US">
              <a:solidFill>
                <a:schemeClr val="accent1"/>
              </a:solidFill>
            </a:endParaRPr>
          </a:p>
          <a:p>
            <a:r>
              <a:rPr lang="en-US" altLang="en-US">
                <a:sym typeface="+mn-ea"/>
              </a:rPr>
              <a:t>A banking app has MTTF = 500 hours.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Calculate:</a:t>
            </a:r>
            <a:endParaRPr lang="en-US" altLang="en-US">
              <a:solidFill>
                <a:schemeClr val="accent1"/>
              </a:solidFill>
            </a:endParaRPr>
          </a:p>
          <a:p>
            <a:r>
              <a:rPr lang="en-US" altLang="en-US">
                <a:sym typeface="+mn-ea"/>
              </a:rPr>
              <a:t>1. Failure rate (λ)</a:t>
            </a:r>
            <a:endParaRPr lang="en-US" altLang="en-US"/>
          </a:p>
          <a:p>
            <a:r>
              <a:rPr lang="en-US" altLang="en-US">
                <a:sym typeface="+mn-ea"/>
              </a:rPr>
              <a:t>2. Reliability for a 100-hour transaction period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Solution: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700">
                <a:sym typeface="+mn-ea"/>
              </a:rPr>
              <a:t>Step 1: Failure Rate</a:t>
            </a:r>
            <a:endParaRPr lang="en-US" altLang="en-US" sz="1700"/>
          </a:p>
          <a:p>
            <a:r>
              <a:rPr lang="en-US" altLang="en-US" sz="1700">
                <a:sym typeface="+mn-ea"/>
              </a:rPr>
              <a:t>λ = 1 / MTTF</a:t>
            </a:r>
            <a:endParaRPr lang="en-US" altLang="en-US" sz="1700"/>
          </a:p>
          <a:p>
            <a:r>
              <a:rPr lang="en-US" altLang="en-US" sz="1700">
                <a:sym typeface="+mn-ea"/>
              </a:rPr>
              <a:t>λ = 1 / 500 = 0.002 failures/hour</a:t>
            </a:r>
            <a:endParaRPr lang="en-US" altLang="en-US" sz="1700"/>
          </a:p>
          <a:p>
            <a:r>
              <a:rPr lang="en-US" altLang="en-US" sz="1700">
                <a:sym typeface="+mn-ea"/>
              </a:rPr>
              <a:t>Step 2: Reliability at t = 100 hours</a:t>
            </a:r>
            <a:endParaRPr lang="en-US" altLang="en-US" sz="1700"/>
          </a:p>
          <a:p>
            <a:r>
              <a:rPr lang="en-US" altLang="en-US" sz="1700">
                <a:sym typeface="+mn-ea"/>
              </a:rPr>
              <a:t>R(t) = e^(-λ × t)</a:t>
            </a:r>
            <a:endParaRPr lang="en-US" altLang="en-US" sz="1700"/>
          </a:p>
          <a:p>
            <a:r>
              <a:rPr lang="en-US" altLang="en-US" sz="1700">
                <a:sym typeface="+mn-ea"/>
              </a:rPr>
              <a:t>R(100) = e^(-0.002 × 100)</a:t>
            </a:r>
            <a:endParaRPr lang="en-US" altLang="en-US" sz="1700"/>
          </a:p>
          <a:p>
            <a:r>
              <a:rPr lang="en-US" altLang="en-US" sz="1700">
                <a:sym typeface="+mn-ea"/>
              </a:rPr>
              <a:t>R(100) = e^(-0.2)</a:t>
            </a:r>
            <a:endParaRPr lang="en-US" altLang="en-US" sz="1700"/>
          </a:p>
          <a:p>
            <a:r>
              <a:rPr lang="en-US" altLang="en-US" sz="1700">
                <a:sym typeface="+mn-ea"/>
              </a:rPr>
              <a:t>R(100) = 0.8187 (81.87%)</a:t>
            </a:r>
            <a:endParaRPr lang="en-US" altLang="en-US" sz="1700"/>
          </a:p>
          <a:p>
            <a:r>
              <a:rPr lang="en-US" altLang="en-US" sz="1700">
                <a:sym typeface="+mn-ea"/>
              </a:rPr>
              <a:t>Interpretation:</a:t>
            </a:r>
            <a:endParaRPr lang="en-US" altLang="en-US" sz="1700"/>
          </a:p>
          <a:p>
            <a:r>
              <a:rPr lang="en-US" altLang="en-US" sz="1700">
                <a:sym typeface="+mn-ea"/>
              </a:rPr>
              <a:t>There is an 82% probability the system will run </a:t>
            </a:r>
            <a:endParaRPr lang="en-US" altLang="en-US" sz="1700"/>
          </a:p>
          <a:p>
            <a:r>
              <a:rPr lang="en-US" altLang="en-US" sz="1700">
                <a:sym typeface="+mn-ea"/>
              </a:rPr>
              <a:t>100 hours without any failure.</a:t>
            </a:r>
            <a:endParaRPr lang="en-US" altLang="en-US" sz="1700"/>
          </a:p>
          <a:p>
            <a:endParaRPr lang="en-US" altLang="en-US" sz="1000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What are Software Reliability Models?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Mathematical models used to:</a:t>
            </a:r>
            <a:endParaRPr lang="en-US" altLang="en-US">
              <a:solidFill>
                <a:schemeClr val="accent1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>
                <a:sym typeface="+mn-ea"/>
              </a:rPr>
              <a:t>Predict failures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>
                <a:sym typeface="+mn-ea"/>
              </a:rPr>
              <a:t>Estimate reliability growth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>
                <a:sym typeface="+mn-ea"/>
              </a:rPr>
              <a:t>Analyze testing progress</a:t>
            </a:r>
            <a:endParaRPr lang="en-US" altLang="en-US"/>
          </a:p>
          <a:p>
            <a:r>
              <a:rPr lang="en-US" altLang="en-US">
                <a:sym typeface="+mn-ea"/>
              </a:rPr>
              <a:t>Based on real failure data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Types of Reliability Models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THREE TYPES:</a:t>
            </a:r>
            <a:endParaRPr lang="en-US" altLang="en-US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altLang="en-US"/>
              <a:t>1. TIME-BASED MODELS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Use calendar time (days, weeks, months)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Examples: Jelinski-Moranda, Goel-Okumoto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FAULT-BASED MODELS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Based on number of faults remaining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Example: Jelinski-Moranda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EXECUTION-BASED MODELS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• Use execution time (CPU hours, transactions)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• Example: Musa Basic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Jelinski-Moranda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0000"/>
          </a:bodyPr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DESCRIPTION:</a:t>
            </a:r>
            <a:endParaRPr lang="en-US" altLang="en-US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altLang="en-US"/>
              <a:t>• Assumes fixed number of initial faults (N)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Failure rate decreases as faults are fixed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Suitable for early testing phases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FORMULAS: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λ(t</a:t>
            </a:r>
            <a:r>
              <a:rPr lang="en-US" altLang="en-US"/>
              <a:t>ᵢ) = </a:t>
            </a:r>
            <a:r>
              <a:rPr lang="en-US" altLang="en-US"/>
              <a:t>φ × (N - i + 1)</a:t>
            </a:r>
            <a:endParaRPr lang="en-US" altLang="en-US"/>
          </a:p>
          <a:p>
            <a:r>
              <a:rPr lang="en-US" altLang="en-US"/>
              <a:t>R(t</a:t>
            </a:r>
            <a:r>
              <a:rPr lang="en-US" altLang="en-US"/>
              <a:t>ᵢ) = </a:t>
            </a:r>
            <a:r>
              <a:rPr lang="en-US" altLang="en-US"/>
              <a:t>e^{-φ(N - i + 1)t</a:t>
            </a:r>
            <a:r>
              <a:rPr lang="en-US" altLang="en-US"/>
              <a:t>ᵢ}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WHERE: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N = total initial faults</a:t>
            </a:r>
            <a:endParaRPr lang="en-US" altLang="en-US"/>
          </a:p>
          <a:p>
            <a:r>
              <a:rPr lang="en-US" altLang="en-US"/>
              <a:t>φ = fault detection rate</a:t>
            </a:r>
            <a:endParaRPr lang="en-US" altLang="en-US"/>
          </a:p>
          <a:p>
            <a:r>
              <a:rPr lang="en-US" altLang="en-US"/>
              <a:t>i = number of faults fixed so far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Goel-Okumoto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60000"/>
          </a:bodyPr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DESCRIPTION:</a:t>
            </a:r>
            <a:endParaRPr lang="en-US" altLang="en-US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altLang="en-US"/>
              <a:t>• Based on Poisson distribution Non-Homogeneous Poisson Process (NHPP)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Failure rate changes (decreases) over time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• Widely used in reliability prediction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FORMULA: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μ(t) = a(1 − e^{-bt})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3"/>
                </a:solidFill>
              </a:rPr>
              <a:t>WHERE:</a:t>
            </a:r>
            <a:endParaRPr lang="en-US" altLang="en-US">
              <a:solidFill>
                <a:schemeClr val="accent3"/>
              </a:solidFill>
            </a:endParaRPr>
          </a:p>
          <a:p>
            <a:r>
              <a:rPr lang="en-US" altLang="en-US"/>
              <a:t>μ(t) = Expected cumulative failures by time t</a:t>
            </a:r>
            <a:endParaRPr lang="en-US" altLang="en-US"/>
          </a:p>
          <a:p>
            <a:r>
              <a:rPr lang="en-US" altLang="en-US"/>
              <a:t>a = Expected total number of failures</a:t>
            </a:r>
            <a:endParaRPr lang="en-US" altLang="en-US"/>
          </a:p>
          <a:p>
            <a:r>
              <a:rPr lang="en-US" altLang="en-US"/>
              <a:t>b = Fault detection rate</a:t>
            </a:r>
            <a:endParaRPr lang="en-US" altLang="en-US"/>
          </a:p>
          <a:p>
            <a:r>
              <a:rPr lang="en-US" altLang="en-US"/>
              <a:t>t = Time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Musa Basic Execution Time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500">
                <a:sym typeface="+mn-ea"/>
              </a:rPr>
              <a:t>Uses execution time instead of calendar time</a:t>
            </a:r>
            <a:endParaRPr lang="en-US" altLang="en-US" sz="1500"/>
          </a:p>
          <a:p>
            <a:r>
              <a:rPr lang="en-US" altLang="en-US" sz="1500">
                <a:sym typeface="+mn-ea"/>
              </a:rPr>
              <a:t>Reflects real system usage</a:t>
            </a:r>
            <a:endParaRPr lang="en-US" altLang="en-US" sz="1500"/>
          </a:p>
          <a:p>
            <a:r>
              <a:rPr lang="en-US" altLang="en-US" sz="1500">
                <a:sym typeface="+mn-ea"/>
              </a:rPr>
              <a:t>Common in industry applications</a:t>
            </a:r>
            <a:endParaRPr lang="en-US" altLang="en-US" sz="1500"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1500">
                <a:solidFill>
                  <a:schemeClr val="accent3"/>
                </a:solidFill>
              </a:rPr>
              <a:t>KEY FEATURES</a:t>
            </a:r>
            <a:endParaRPr lang="en-US" altLang="en-US" sz="150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altLang="en-US" sz="1500"/>
              <a:t>✓ Uses EXECUTION TIME instead of calendar time (CPU hours, transaction counts)</a:t>
            </a:r>
            <a:endParaRPr lang="en-US" altLang="en-US" sz="1500"/>
          </a:p>
          <a:p>
            <a:pPr marL="0" indent="0">
              <a:buNone/>
            </a:pPr>
            <a:r>
              <a:rPr lang="en-US" altLang="en-US" sz="1500"/>
              <a:t>✓ Reflects REAL SYSTEM USAGE  (idle time not counted as testing)</a:t>
            </a:r>
            <a:endParaRPr lang="en-US" altLang="en-US" sz="1500"/>
          </a:p>
          <a:p>
            <a:pPr marL="0" indent="0">
              <a:buNone/>
            </a:pPr>
            <a:r>
              <a:rPr lang="en-US" altLang="en-US" sz="1500"/>
              <a:t>✓ Common in INDUSTRY APPLICATIONS  (resource planning, test scheduling)</a:t>
            </a:r>
            <a:endParaRPr lang="en-US" altLang="en-US" sz="1500"/>
          </a:p>
          <a:p>
            <a:pPr>
              <a:buFont typeface="Wingdings" panose="05000000000000000000" charset="0"/>
              <a:buChar char="Ø"/>
            </a:pPr>
            <a:r>
              <a:rPr lang="en-US" altLang="en-US" sz="1500">
                <a:solidFill>
                  <a:schemeClr val="accent3"/>
                </a:solidFill>
              </a:rPr>
              <a:t>FORMULA:</a:t>
            </a:r>
            <a:endParaRPr lang="en-US" altLang="en-US" sz="1500">
              <a:solidFill>
                <a:schemeClr val="accent3"/>
              </a:solidFill>
            </a:endParaRPr>
          </a:p>
          <a:p>
            <a:r>
              <a:rPr lang="en-US" altLang="en-US" sz="1500"/>
              <a:t>λ(τ) = λ₀ × (1 - τ/τ_f)</a:t>
            </a:r>
            <a:endParaRPr lang="en-US" altLang="en-US" sz="1500"/>
          </a:p>
          <a:p>
            <a:r>
              <a:rPr lang="en-US" altLang="en-US" sz="1500"/>
              <a:t>WHERE:</a:t>
            </a:r>
            <a:endParaRPr lang="en-US" altLang="en-US" sz="1500"/>
          </a:p>
          <a:p>
            <a:r>
              <a:rPr lang="en-US" altLang="en-US" sz="1500"/>
              <a:t>λ₀ = initial failure intensity</a:t>
            </a:r>
            <a:endParaRPr lang="en-US" altLang="en-US" sz="1500"/>
          </a:p>
          <a:p>
            <a:r>
              <a:rPr lang="en-US" altLang="en-US" sz="1500"/>
              <a:t>τ = execution time</a:t>
            </a:r>
            <a:endParaRPr lang="en-US" altLang="en-US" sz="1500"/>
          </a:p>
          <a:p>
            <a:r>
              <a:rPr lang="en-US" altLang="en-US" sz="1500"/>
              <a:t>τ_f = total time to reach zero failures</a:t>
            </a:r>
            <a:endParaRPr lang="en-US" altLang="en-US" sz="1500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Logarithmic Poisson Model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4690" y="1168400"/>
            <a:ext cx="10800080" cy="5444490"/>
          </a:xfrm>
        </p:spPr>
        <p:txBody>
          <a:bodyPr>
            <a:noAutofit/>
          </a:bodyPr>
          <a:p>
            <a:pPr>
              <a:buFont typeface="Wingdings" panose="05000000000000000000" charset="0"/>
              <a:buChar char="Ø"/>
            </a:pPr>
            <a:r>
              <a:rPr lang="en-US" altLang="en-US" sz="1400">
                <a:solidFill>
                  <a:schemeClr val="accent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DEFINITION:</a:t>
            </a:r>
            <a:endParaRPr lang="en-US" altLang="en-US" sz="1400">
              <a:solidFill>
                <a:schemeClr val="accent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altLang="en-US" sz="1400"/>
              <a:t>An Non-Homogeneous Poisson Process(NHPP) model where failure intensity decreases </a:t>
            </a:r>
            <a:endParaRPr lang="en-US" altLang="en-US" sz="1400"/>
          </a:p>
          <a:p>
            <a:r>
              <a:rPr lang="en-US" altLang="en-US" sz="1400"/>
              <a:t>LOGARITHMICALLY (slowly) over time</a:t>
            </a:r>
            <a:endParaRPr lang="en-US" altLang="en-US" sz="1400"/>
          </a:p>
          <a:p>
            <a:pPr>
              <a:buFont typeface="Wingdings" panose="05000000000000000000" charset="0"/>
              <a:buChar char="Ø"/>
            </a:pPr>
            <a:r>
              <a:rPr lang="en-US" altLang="en-US" sz="1400">
                <a:solidFill>
                  <a:schemeClr val="accent3"/>
                </a:solidFill>
              </a:rPr>
              <a:t>KEY CHARACTERISTIC:</a:t>
            </a:r>
            <a:endParaRPr lang="en-US" altLang="en-US" sz="1400">
              <a:solidFill>
                <a:schemeClr val="accent3"/>
              </a:solidFill>
            </a:endParaRPr>
          </a:p>
          <a:p>
            <a:pPr marL="0" indent="0">
              <a:buFont typeface="Wingdings" panose="05000000000000000000" charset="0"/>
              <a:buChar char="v"/>
            </a:pPr>
            <a:r>
              <a:rPr lang="en-US" altLang="en-US" sz="1400"/>
              <a:t>  Failure rate decreases logarithmically</a:t>
            </a:r>
            <a:endParaRPr lang="en-US" altLang="en-US" sz="1400"/>
          </a:p>
          <a:p>
            <a:pPr>
              <a:buFont typeface="Wingdings" panose="05000000000000000000" charset="0"/>
              <a:buChar char="Ø"/>
            </a:pPr>
            <a:r>
              <a:rPr lang="en-US" altLang="en-US" sz="1400">
                <a:solidFill>
                  <a:schemeClr val="accent3"/>
                </a:solidFill>
              </a:rPr>
              <a:t>FORMULA:</a:t>
            </a:r>
            <a:endParaRPr lang="en-US" altLang="en-US" sz="1400">
              <a:solidFill>
                <a:schemeClr val="accent3"/>
              </a:solidFill>
            </a:endParaRPr>
          </a:p>
          <a:p>
            <a:r>
              <a:rPr lang="en-US" altLang="en-US" sz="1400"/>
              <a:t>λ(t) = λ₀ / (1 + βλ₀t)</a:t>
            </a:r>
            <a:endParaRPr lang="en-US" altLang="en-US" sz="1400"/>
          </a:p>
          <a:p>
            <a:r>
              <a:rPr lang="en-US" altLang="en-US" sz="1400"/>
              <a:t>WHERE:</a:t>
            </a:r>
            <a:endParaRPr lang="en-US" altLang="en-US" sz="1400"/>
          </a:p>
          <a:p>
            <a:r>
              <a:rPr lang="en-US" altLang="en-US" sz="1400"/>
              <a:t>λ₀ = initial failure intensity</a:t>
            </a:r>
            <a:endParaRPr lang="en-US" altLang="en-US" sz="1400"/>
          </a:p>
          <a:p>
            <a:r>
              <a:rPr lang="en-US" altLang="en-US" sz="1400"/>
              <a:t>β = rate of decrease</a:t>
            </a:r>
            <a:endParaRPr lang="en-US" altLang="en-US" sz="1400"/>
          </a:p>
          <a:p>
            <a:r>
              <a:rPr lang="en-US" altLang="en-US" sz="1400"/>
              <a:t>t = time</a:t>
            </a:r>
            <a:endParaRPr lang="en-US" altLang="en-US" sz="1400"/>
          </a:p>
          <a:p>
            <a:pPr>
              <a:buFont typeface="Wingdings" panose="05000000000000000000" charset="0"/>
              <a:buChar char="Ø"/>
            </a:pPr>
            <a:r>
              <a:rPr lang="en-US" altLang="en-US" sz="1400">
                <a:solidFill>
                  <a:schemeClr val="accent3"/>
                </a:solidFill>
              </a:rPr>
              <a:t>WHY USE IT?</a:t>
            </a:r>
            <a:endParaRPr lang="en-US" altLang="en-US" sz="140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altLang="en-US" sz="1400"/>
              <a:t>      • More conservative than exponential models</a:t>
            </a:r>
            <a:endParaRPr lang="en-US" altLang="en-US" sz="1400"/>
          </a:p>
          <a:p>
            <a:r>
              <a:rPr lang="en-US" altLang="en-US" sz="1400"/>
              <a:t>• Safer predictions for critical systems</a:t>
            </a:r>
            <a:endParaRPr lang="en-US" altLang="en-US" sz="1400"/>
          </a:p>
          <a:p>
            <a:endParaRPr lang="en-US" altLang="en-US" sz="400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Comparison of Models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94800" y="1364400"/>
          <a:ext cx="1080135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70"/>
                <a:gridCol w="2160270"/>
                <a:gridCol w="2160270"/>
                <a:gridCol w="2160270"/>
                <a:gridCol w="216027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b="1"/>
                        <a:t>Feature             </a:t>
                      </a:r>
                      <a:endParaRPr lang="en-US" altLang="en-US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Jelinski-Moranda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Goel-Okumoto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Musa Basic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Logarithmic Poisson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Failure rate over time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Decreases stepwise after each fix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Decreases exponentially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Decreases linearly with failures fixed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Decreases slowly (logarithmic)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Assumes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Equal detectability of all faults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NHPP process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Execution time based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Infinite faults possible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Best for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Early testing phase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General reliability growth prediction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Real usage tracking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Large/complex systems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Key equation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Key equation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μ(t) = a(1 - e⁻</a:t>
                      </a:r>
                      <a:r>
                        <a:rPr lang="en-US" altLang="en-US"/>
                        <a:t>ᵇᵗ)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λ(τ) = λ₀ × (1-τ/V₀)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λ(τ) = λ₀ × (1-τ/V₀)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Limitation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New faults may not be equally findable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Needs good failure data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Requires execution time measurement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Hard to estimate initial parameters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Model Selection Criteria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4690" y="1209040"/>
            <a:ext cx="10800080" cy="4968875"/>
          </a:xfrm>
        </p:spPr>
        <p:txBody>
          <a:bodyPr>
            <a:noAutofit/>
          </a:bodyPr>
          <a:p>
            <a:r>
              <a:rPr lang="en-US" altLang="en-US" sz="1300">
                <a:sym typeface="+mn-ea"/>
              </a:rPr>
              <a:t>How to Choose the Right Model</a:t>
            </a:r>
            <a:endParaRPr lang="en-US" altLang="en-US" sz="1300"/>
          </a:p>
          <a:p>
            <a:r>
              <a:rPr lang="en-US" altLang="en-US" sz="1300">
                <a:sym typeface="+mn-ea"/>
              </a:rPr>
              <a:t>Ask these 4 questions: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1. What phase of testing?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• Early → Jelinski-Moranda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   • Middle to late → Goel-Okumoto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2. Do you have execution time data?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• Yes → Musa Basic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 • No → Goel-Okumoto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3. Is the system very large (&gt;1M lines)?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  • Yes → Logarithmic Poisson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• No → Any other model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4. How much failure data exists?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 • Little → Jelinski-Moranda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 • Moderate → Goel-Okumoto</a:t>
            </a:r>
            <a:endParaRPr lang="en-US" altLang="en-US" sz="1300"/>
          </a:p>
          <a:p>
            <a:pPr marL="0" indent="0">
              <a:buNone/>
            </a:pPr>
            <a:r>
              <a:rPr lang="en-US" altLang="en-US" sz="1300">
                <a:sym typeface="+mn-ea"/>
              </a:rPr>
              <a:t>• Extensive → Musa Basic</a:t>
            </a:r>
            <a:endParaRPr lang="en-US" altLang="en-US" sz="1300"/>
          </a:p>
          <a:p>
            <a:endParaRPr lang="en-US" altLang="en-US" sz="500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Importance of Models &amp; Metrics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>
                <a:sym typeface="+mn-ea"/>
              </a:rPr>
              <a:t>Predict system reliability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ym typeface="+mn-ea"/>
              </a:rPr>
              <a:t>Improve testing strategies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ym typeface="+mn-ea"/>
              </a:rPr>
              <a:t>Reduce system failures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ym typeface="+mn-ea"/>
              </a:rPr>
              <a:t>Support decision-making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What is Software Reliability Engineering (SRE)?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tx2"/>
                </a:solidFill>
                <a:sym typeface="+mn-ea"/>
              </a:rPr>
              <a:t>Software Reliability Engineering (SRE)</a:t>
            </a:r>
            <a:endParaRPr lang="en-US" altLang="en-US">
              <a:solidFill>
                <a:schemeClr val="tx2"/>
              </a:solidFill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1"/>
                </a:solidFill>
              </a:rPr>
              <a:t>KEY CHARACTERISTICS:</a:t>
            </a:r>
            <a:endParaRPr lang="en-US" altLang="en-US">
              <a:solidFill>
                <a:schemeClr val="accent1"/>
              </a:solidFill>
            </a:endParaRPr>
          </a:p>
          <a:p>
            <a:r>
              <a:rPr lang="en-US" altLang="en-US">
                <a:sym typeface="+mn-ea"/>
              </a:rPr>
              <a:t>Engineering discipline focused on reliability</a:t>
            </a:r>
            <a:endParaRPr lang="en-US" altLang="en-US"/>
          </a:p>
          <a:p>
            <a:r>
              <a:rPr lang="en-US" altLang="en-US">
                <a:sym typeface="+mn-ea"/>
              </a:rPr>
              <a:t>Uses statistical and mathematical techniques</a:t>
            </a:r>
            <a:endParaRPr lang="en-US" altLang="en-US"/>
          </a:p>
          <a:p>
            <a:r>
              <a:rPr lang="en-US" altLang="en-US">
                <a:sym typeface="+mn-ea"/>
              </a:rPr>
              <a:t>Ensures software works without failure over time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Key Concepts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Failure </a:t>
            </a:r>
            <a:r>
              <a:rPr lang="en-US" altLang="en-US">
                <a:sym typeface="+mn-ea"/>
              </a:rPr>
              <a:t>→ System does not perform correctly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Fault (Bug) </a:t>
            </a:r>
            <a:r>
              <a:rPr lang="en-US" altLang="en-US">
                <a:sym typeface="+mn-ea"/>
              </a:rPr>
              <a:t>→ Defect in software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Error </a:t>
            </a:r>
            <a:r>
              <a:rPr lang="en-US" altLang="en-US">
                <a:sym typeface="+mn-ea"/>
              </a:rPr>
              <a:t>→ Human mistake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Reliability </a:t>
            </a:r>
            <a:r>
              <a:rPr lang="en-US" altLang="en-US">
                <a:sym typeface="+mn-ea"/>
              </a:rPr>
              <a:t>→ Probability of failure-free operation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Goals of Software Reliability Engineering (SRE)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1. REDUCE number of failures                  </a:t>
            </a:r>
            <a:endParaRPr lang="en-US" altLang="en-US"/>
          </a:p>
          <a:p>
            <a:r>
              <a:rPr lang="en-US" altLang="en-US"/>
              <a:t>   Lower λ, Higher MTTF                              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2. IMPROVE system performance                             </a:t>
            </a:r>
            <a:endParaRPr lang="en-US" altLang="en-US"/>
          </a:p>
          <a:p>
            <a:r>
              <a:rPr lang="en-US" altLang="en-US"/>
              <a:t>  Faster response, better throughput               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INCREASE user satisfaction                              </a:t>
            </a:r>
            <a:endParaRPr lang="en-US" altLang="en-US"/>
          </a:p>
          <a:p>
            <a:r>
              <a:rPr lang="en-US" altLang="en-US"/>
              <a:t> Reliable systems = happy users                    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4. ENSURE continuous system operation                      </a:t>
            </a:r>
            <a:endParaRPr lang="en-US" altLang="en-US"/>
          </a:p>
          <a:p>
            <a:r>
              <a:rPr lang="en-US" altLang="en-US"/>
              <a:t>High availability, minimal downtime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/>
              <a:t>Importance of Software Reliability Engineering (SRE)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pPr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accent1"/>
                </a:solidFill>
                <a:sym typeface="+mn-ea"/>
              </a:rPr>
              <a:t>Critical for:</a:t>
            </a:r>
            <a:endParaRPr lang="en-US" altLang="en-US" b="1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en-US"/>
              <a:t> ✓ BANKING SYSTEMS                                    </a:t>
            </a:r>
            <a:endParaRPr lang="en-US" altLang="en-US"/>
          </a:p>
          <a:p>
            <a:r>
              <a:rPr lang="en-US" altLang="en-US"/>
              <a:t>Prevents financial loss, fraud, transaction errors 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✓ HEALTHCARE SYSTEMS                                       </a:t>
            </a:r>
            <a:endParaRPr lang="en-US" altLang="en-US"/>
          </a:p>
          <a:p>
            <a:r>
              <a:rPr lang="en-US" altLang="en-US"/>
              <a:t> Protects patient safety, medical records, lives    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✓ AVIATION SYSTEMS                                         </a:t>
            </a:r>
            <a:endParaRPr lang="en-US" altLang="en-US"/>
          </a:p>
          <a:p>
            <a:r>
              <a:rPr lang="en-US" altLang="en-US"/>
              <a:t> Ensures flight safety, prevents disasters             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✓ E-COMMERCE / CLOUD SERVICES                              </a:t>
            </a:r>
            <a:endParaRPr lang="en-US" altLang="en-US"/>
          </a:p>
          <a:p>
            <a:r>
              <a:rPr lang="en-US" altLang="en-US"/>
              <a:t>Protects revenue, brand reputation, user trust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SRE Process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Define reliability requirements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Develop operational profile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Collect failure data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Apply reliability models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Analyze results and improve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Reliability Requirements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1"/>
                </a:solidFill>
                <a:sym typeface="+mn-ea"/>
              </a:rPr>
              <a:t>DEFINITION:</a:t>
            </a:r>
            <a:endParaRPr lang="en-US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en-US">
                <a:sym typeface="+mn-ea"/>
              </a:rPr>
              <a:t>Define expected system performance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1"/>
                </a:solidFill>
                <a:sym typeface="+mn-ea"/>
              </a:rPr>
              <a:t>Example:</a:t>
            </a:r>
            <a:endParaRPr lang="en-US" altLang="en-US">
              <a:solidFill>
                <a:schemeClr val="accent1"/>
              </a:solidFill>
            </a:endParaRPr>
          </a:p>
          <a:p>
            <a:r>
              <a:rPr lang="en-US" altLang="en-US">
                <a:sym typeface="+mn-ea"/>
              </a:rPr>
              <a:t>System uptime = 99.9%</a:t>
            </a:r>
            <a:endParaRPr lang="en-US" altLang="en-US"/>
          </a:p>
          <a:p>
            <a:r>
              <a:rPr lang="en-US" altLang="en-US">
                <a:sym typeface="+mn-ea"/>
              </a:rPr>
              <a:t>Maximum failure rate</a:t>
            </a:r>
            <a:endParaRPr lang="en-US" altLang="en-US"/>
          </a:p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1"/>
                </a:solidFill>
              </a:rPr>
              <a:t>Benefit:</a:t>
            </a:r>
            <a:endParaRPr lang="en-US" altLang="en-US">
              <a:solidFill>
                <a:schemeClr val="accent1"/>
              </a:solidFill>
            </a:endParaRPr>
          </a:p>
          <a:p>
            <a:r>
              <a:rPr lang="en-US" altLang="en-US"/>
              <a:t>Helps guide development toward specific, measurable goals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Operational Profile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accent1"/>
                </a:solidFill>
                <a:sym typeface="+mn-ea"/>
              </a:rPr>
              <a:t>DEFINITION:</a:t>
            </a:r>
            <a:endParaRPr lang="en-US" altLang="en-US">
              <a:solidFill>
                <a:schemeClr val="accent1"/>
              </a:solidFill>
              <a:sym typeface="+mn-ea"/>
            </a:endParaRPr>
          </a:p>
          <a:p>
            <a:r>
              <a:rPr lang="en-US" altLang="en-US">
                <a:sym typeface="+mn-ea"/>
              </a:rPr>
              <a:t>Describes how users interact with the system</a:t>
            </a:r>
            <a:endParaRPr lang="en-US" altLang="en-US"/>
          </a:p>
          <a:p>
            <a:r>
              <a:rPr lang="en-US" altLang="en-US">
                <a:sym typeface="+mn-ea"/>
              </a:rPr>
              <a:t>Example (Smart Campus):</a:t>
            </a:r>
            <a:endParaRPr lang="en-US" altLang="en-US"/>
          </a:p>
          <a:p>
            <a:r>
              <a:rPr lang="en-US" altLang="en-US">
                <a:sym typeface="+mn-ea"/>
              </a:rPr>
              <a:t>Login → 30%</a:t>
            </a:r>
            <a:endParaRPr lang="en-US" altLang="en-US"/>
          </a:p>
          <a:p>
            <a:r>
              <a:rPr lang="en-US" altLang="en-US">
                <a:sym typeface="+mn-ea"/>
              </a:rPr>
              <a:t>View Courses → 25%</a:t>
            </a:r>
            <a:endParaRPr lang="en-US" altLang="en-US"/>
          </a:p>
          <a:p>
            <a:r>
              <a:rPr lang="en-US" altLang="en-US">
                <a:sym typeface="+mn-ea"/>
              </a:rPr>
              <a:t>Submit Assignment → 20%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</a:rPr>
              <a:t>PURPOSE:</a:t>
            </a:r>
            <a:endParaRPr lang="en-US" altLang="en-US">
              <a:solidFill>
                <a:schemeClr val="accent1"/>
              </a:solidFill>
            </a:endParaRPr>
          </a:p>
          <a:p>
            <a:r>
              <a:rPr lang="en-US" altLang="en-US"/>
              <a:t>Focus testing on REAL usage, not random scenarios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Failure Data Collection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70000"/>
          </a:bodyPr>
          <a:p>
            <a:r>
              <a:rPr lang="en-US" altLang="en-US">
                <a:sym typeface="+mn-ea"/>
              </a:rPr>
              <a:t>Record system failures during testing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Important data:</a:t>
            </a:r>
            <a:endParaRPr lang="en-US" altLang="en-US">
              <a:solidFill>
                <a:schemeClr val="accent1"/>
              </a:solidFill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altLang="en-US"/>
              <a:t> ✓ TIME OF FAILURE                                         </a:t>
            </a:r>
            <a:endParaRPr lang="en-US" altLang="en-US"/>
          </a:p>
          <a:p>
            <a:pPr>
              <a:buFont typeface="Wingdings" panose="05000000000000000000" charset="0"/>
              <a:buChar char="v"/>
            </a:pPr>
            <a:r>
              <a:rPr lang="en-US" altLang="en-US"/>
              <a:t>When did it happen? (timestamp, elapsed time)          </a:t>
            </a:r>
            <a:endParaRPr lang="en-US" altLang="en-US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/>
              <a:t>✓ TYPE OF FAILURE                                         </a:t>
            </a:r>
            <a:endParaRPr lang="en-US" altLang="en-US"/>
          </a:p>
          <a:p>
            <a:pPr>
              <a:buFont typeface="Wingdings" panose="05000000000000000000" charset="0"/>
              <a:buChar char="v"/>
            </a:pPr>
            <a:r>
              <a:rPr lang="en-US" altLang="en-US"/>
              <a:t>What happened? (crash, hang, wrong output, slow)       </a:t>
            </a:r>
            <a:endParaRPr lang="en-US" altLang="en-US"/>
          </a:p>
          <a:p>
            <a:pPr marL="0" indent="0">
              <a:buFont typeface="Wingdings" panose="05000000000000000000" charset="0"/>
              <a:buNone/>
            </a:pPr>
            <a:r>
              <a:rPr lang="en-US" altLang="en-US"/>
              <a:t> ✓ FREQUENCY                                                </a:t>
            </a:r>
            <a:endParaRPr lang="en-US" altLang="en-US"/>
          </a:p>
          <a:p>
            <a:r>
              <a:rPr lang="en-US" altLang="en-US"/>
              <a:t>How many times did it occur?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</a:rPr>
              <a:t>PURPOSE</a:t>
            </a:r>
            <a:r>
              <a:rPr lang="en-US" altLang="en-US"/>
              <a:t>:</a:t>
            </a:r>
            <a:endParaRPr lang="en-US" altLang="en-US"/>
          </a:p>
          <a:p>
            <a:r>
              <a:rPr lang="en-US" altLang="en-US"/>
              <a:t>Used for reliability analysis (input to models)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Reliability Testing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Testing to ensure system stability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Types:</a:t>
            </a:r>
            <a:endParaRPr lang="en-US" altLang="en-US">
              <a:solidFill>
                <a:schemeClr val="accent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Load testing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Stress testing</a:t>
            </a:r>
            <a:endParaRPr lang="en-US" altLang="en-US"/>
          </a:p>
          <a:p>
            <a:pPr marL="457200" indent="-457200">
              <a:buFont typeface="+mj-lt"/>
              <a:buAutoNum type="arabicPeriod"/>
            </a:pPr>
            <a:r>
              <a:rPr lang="en-US" altLang="en-US">
                <a:sym typeface="+mn-ea"/>
              </a:rPr>
              <a:t>Performance testing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Reliability Growth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Reliability improves as faults are removed</a:t>
            </a:r>
            <a:endParaRPr lang="en-US" altLang="en-US"/>
          </a:p>
          <a:p>
            <a:r>
              <a:rPr lang="en-US" altLang="en-US">
                <a:sym typeface="+mn-ea"/>
              </a:rPr>
              <a:t>Fewer failures over time</a:t>
            </a:r>
            <a:endParaRPr lang="en-US" altLang="en-US"/>
          </a:p>
          <a:p>
            <a:r>
              <a:rPr lang="en-US" altLang="en-US">
                <a:sym typeface="+mn-ea"/>
              </a:rPr>
              <a:t>Shows system improvement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Reliability Prediction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Estimate future system reliability</a:t>
            </a:r>
            <a:endParaRPr lang="en-US" altLang="en-US"/>
          </a:p>
          <a:p>
            <a:r>
              <a:rPr lang="en-US" altLang="en-US">
                <a:solidFill>
                  <a:schemeClr val="accent1"/>
                </a:solidFill>
                <a:sym typeface="+mn-ea"/>
              </a:rPr>
              <a:t>Uses:</a:t>
            </a:r>
            <a:endParaRPr lang="en-US" altLang="en-US">
              <a:solidFill>
                <a:schemeClr val="accent1"/>
              </a:solidFill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 altLang="en-US">
                <a:sym typeface="+mn-ea"/>
              </a:rPr>
              <a:t>Models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>
                <a:sym typeface="+mn-ea"/>
              </a:rPr>
              <a:t>Historical data</a:t>
            </a:r>
            <a:endParaRPr lang="en-US" altLang="en-US"/>
          </a:p>
          <a:p>
            <a:pPr>
              <a:buFont typeface="Wingdings" panose="05000000000000000000" charset="0"/>
              <a:buChar char="ü"/>
            </a:pPr>
            <a:r>
              <a:rPr lang="en-US" altLang="en-US">
                <a:sym typeface="+mn-ea"/>
              </a:rPr>
              <a:t>Helps decision-making before release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Risk Management in SRE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Identify possible failures</a:t>
            </a:r>
            <a:endParaRPr lang="en-US" altLang="en-US"/>
          </a:p>
          <a:p>
            <a:r>
              <a:rPr lang="en-US" altLang="en-US">
                <a:sym typeface="+mn-ea"/>
              </a:rPr>
              <a:t>Analyze impact</a:t>
            </a:r>
            <a:endParaRPr lang="en-US" altLang="en-US"/>
          </a:p>
          <a:p>
            <a:r>
              <a:rPr lang="en-US" altLang="en-US">
                <a:sym typeface="+mn-ea"/>
              </a:rPr>
              <a:t>Reduce risks early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Challenges in SRE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Complex systems</a:t>
            </a:r>
            <a:endParaRPr lang="en-US" altLang="en-US"/>
          </a:p>
          <a:p>
            <a:r>
              <a:rPr lang="en-US" altLang="en-US">
                <a:sym typeface="+mn-ea"/>
              </a:rPr>
              <a:t>Changing requirements</a:t>
            </a:r>
            <a:endParaRPr lang="en-US" altLang="en-US"/>
          </a:p>
          <a:p>
            <a:r>
              <a:rPr lang="en-US" altLang="en-US">
                <a:sym typeface="+mn-ea"/>
              </a:rPr>
              <a:t>Limited testing time</a:t>
            </a:r>
            <a:endParaRPr lang="en-US" altLang="en-US"/>
          </a:p>
          <a:p>
            <a:r>
              <a:rPr lang="en-US" altLang="en-US">
                <a:sym typeface="+mn-ea"/>
              </a:rPr>
              <a:t>Human errors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Advantages of SRE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Better software quality</a:t>
            </a:r>
            <a:endParaRPr lang="en-US" altLang="en-US"/>
          </a:p>
          <a:p>
            <a:r>
              <a:rPr lang="en-US" altLang="en-US">
                <a:sym typeface="+mn-ea"/>
              </a:rPr>
              <a:t>Reduced maintenance cost</a:t>
            </a:r>
            <a:endParaRPr lang="en-US" altLang="en-US"/>
          </a:p>
          <a:p>
            <a:r>
              <a:rPr lang="en-US" altLang="en-US">
                <a:sym typeface="+mn-ea"/>
              </a:rPr>
              <a:t>Increased system reliability</a:t>
            </a:r>
            <a:endParaRPr lang="en-US" altLang="en-US"/>
          </a:p>
          <a:p>
            <a:r>
              <a:rPr lang="en-US" altLang="en-US">
                <a:sym typeface="+mn-ea"/>
              </a:rPr>
              <a:t>Improved user trust</a:t>
            </a:r>
            <a:endParaRPr lang="en-US" altLang="en-US"/>
          </a:p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1700"/>
              <a:t> </a:t>
            </a:r>
            <a:r>
              <a:rPr lang="en-US" altLang="en-US" sz="1700">
                <a:solidFill>
                  <a:schemeClr val="accent1"/>
                </a:solidFill>
              </a:rPr>
              <a:t>METRICS</a:t>
            </a:r>
            <a:endParaRPr lang="en-US" altLang="en-US" sz="1700"/>
          </a:p>
          <a:p>
            <a:r>
              <a:rPr lang="en-US" altLang="en-US" sz="1700"/>
              <a:t>• MTTF, MTBF, MTTR — measure failures and repairs</a:t>
            </a:r>
            <a:endParaRPr lang="en-US" altLang="en-US" sz="1700"/>
          </a:p>
          <a:p>
            <a:r>
              <a:rPr lang="en-US" altLang="en-US" sz="1700"/>
              <a:t>• λ = failure rate, R(t) = probability of success</a:t>
            </a:r>
            <a:endParaRPr lang="en-US" altLang="en-US" sz="1700"/>
          </a:p>
          <a:p>
            <a:r>
              <a:rPr lang="zh-CN" altLang="en-US" sz="1700">
                <a:solidFill>
                  <a:schemeClr val="accent1"/>
                </a:solidFill>
              </a:rPr>
              <a:t> </a:t>
            </a:r>
            <a:r>
              <a:rPr lang="en-US" altLang="en-US" sz="1700">
                <a:solidFill>
                  <a:schemeClr val="accent1"/>
                </a:solidFill>
              </a:rPr>
              <a:t>MODELS (4 types)</a:t>
            </a:r>
            <a:endParaRPr lang="en-US" altLang="en-US" sz="170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en-US" sz="1700"/>
              <a:t>• Jelinski-Moranda → Early testing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• Goel-Okumoto → General growth prediction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• Musa Basic → Real usage tracking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• Logarithmic Poisson → Large systems</a:t>
            </a:r>
            <a:endParaRPr lang="en-US" altLang="en-US" sz="1700"/>
          </a:p>
          <a:p>
            <a:r>
              <a:rPr lang="en-US" altLang="en-US" sz="1700">
                <a:solidFill>
                  <a:schemeClr val="accent1"/>
                </a:solidFill>
              </a:rPr>
              <a:t>SRE FUNDAMENTALS</a:t>
            </a:r>
            <a:endParaRPr lang="en-US" altLang="en-US" sz="170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en-US" sz="1700"/>
              <a:t>• Reliability can be engineered, not just tested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• Operational profile = prioritize by user behavior</a:t>
            </a:r>
            <a:endParaRPr lang="en-US" altLang="en-US" sz="1700"/>
          </a:p>
          <a:p>
            <a:pPr marL="0" indent="0">
              <a:buNone/>
            </a:pPr>
            <a:r>
              <a:rPr lang="en-US" altLang="en-US" sz="1700"/>
              <a:t>• Collect failure data → Apply models → Improve</a:t>
            </a:r>
            <a:endParaRPr lang="en-US" altLang="en-US" sz="1700"/>
          </a:p>
        </p:txBody>
      </p:sp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en-US"/>
              <a:t>THANK YOU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3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3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8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3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3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3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3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3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3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6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</p:tagLst>
</file>

<file path=ppt/tags/tag188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9*a*1"/>
  <p:tag name="KSO_WM_TEMPLATE_CATEGORY" val="custom"/>
  <p:tag name="KSO_WM_TEMPLATE_INDEX" val="20233477"/>
  <p:tag name="KSO_WM_UNIT_LAYERLEVEL" val="1"/>
  <p:tag name="KSO_WM_TAG_VERSION" val="3.0"/>
  <p:tag name="KSO_WM_BEAUTIFY_FLAG" val="#wm#"/>
  <p:tag name="KSO_WM_UNIT_PRESET_TEXT" val="THANK YOU"/>
</p:tagLst>
</file>

<file path=ppt/tags/tag189.xml><?xml version="1.0" encoding="utf-8"?>
<p:tagLst xmlns:p="http://schemas.openxmlformats.org/presentationml/2006/main">
  <p:tag name="KSO_WM_SPECIAL_SOURCE" val="bdnull"/>
  <p:tag name="KSO_WM_SLIDE_ID" val="custom20233477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9014</Words>
  <Application>WPS Presentation</Application>
  <PresentationFormat>Widescreen</PresentationFormat>
  <Paragraphs>449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8" baseType="lpstr">
      <vt:lpstr>Arial</vt:lpstr>
      <vt:lpstr>SimSun</vt:lpstr>
      <vt:lpstr>Wingdings</vt:lpstr>
      <vt:lpstr>Times New Roman</vt:lpstr>
      <vt:lpstr>Wingdings</vt:lpstr>
      <vt:lpstr>Lato</vt:lpstr>
      <vt:lpstr>Manrope ExtraBold</vt:lpstr>
      <vt:lpstr>Microsoft YaHei</vt:lpstr>
      <vt:lpstr>Arial Unicode MS</vt:lpstr>
      <vt:lpstr>Calibri</vt:lpstr>
      <vt:lpstr>Office Theme</vt:lpstr>
      <vt:lpstr>1_Office Theme</vt:lpstr>
      <vt:lpstr>MEKDELA AMBA UNIVERSITY College of Computing &amp; Informatics Software Engineering Department</vt:lpstr>
      <vt:lpstr>Introduction to Reliability Models &amp; Metrics</vt:lpstr>
      <vt:lpstr>What are Software Reliability Metrics?</vt:lpstr>
      <vt:lpstr>Key Reliability Metrics</vt:lpstr>
      <vt:lpstr>Mean Time To Failure (MTTF)</vt:lpstr>
      <vt:lpstr>Mean Time To Repair (MTTR)</vt:lpstr>
      <vt:lpstr>Mean Time Between Failures (MTBF)</vt:lpstr>
      <vt:lpstr>Failure Rate (λ)</vt:lpstr>
      <vt:lpstr>Reliability Function</vt:lpstr>
      <vt:lpstr>Numerical Example: MTTF → Reliability Calculation</vt:lpstr>
      <vt:lpstr>Solution:</vt:lpstr>
      <vt:lpstr>What are Software Reliability Models?</vt:lpstr>
      <vt:lpstr>Types of Reliability Models</vt:lpstr>
      <vt:lpstr>Jelinski-Moranda Model</vt:lpstr>
      <vt:lpstr>Goel-Okumoto Model</vt:lpstr>
      <vt:lpstr>Musa Basic Execution Time Model</vt:lpstr>
      <vt:lpstr>Logarithmic Poisson Model</vt:lpstr>
      <vt:lpstr>Comparison of Models</vt:lpstr>
      <vt:lpstr>Model Selection Criteria</vt:lpstr>
      <vt:lpstr>Importance of Models &amp; Metrics</vt:lpstr>
      <vt:lpstr>What is Software Reliability Engineering (SRE)?</vt:lpstr>
      <vt:lpstr>Key Concepts</vt:lpstr>
      <vt:lpstr>Goals of Software Reliability Engineering (SRE)</vt:lpstr>
      <vt:lpstr>Importance of Software Reliability Engineering (SRE)</vt:lpstr>
      <vt:lpstr>SRE Process Overview</vt:lpstr>
      <vt:lpstr>Reliability Requirements</vt:lpstr>
      <vt:lpstr>Operational Profile</vt:lpstr>
      <vt:lpstr>Failure Data Collection</vt:lpstr>
      <vt:lpstr>Reliability Testing</vt:lpstr>
      <vt:lpstr>Reliability Growth</vt:lpstr>
      <vt:lpstr>Reliability Prediction</vt:lpstr>
      <vt:lpstr>Risk Management in SRE</vt:lpstr>
      <vt:lpstr>Challenges in SRE</vt:lpstr>
      <vt:lpstr>Advantages of SRE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</dc:creator>
  <cp:lastModifiedBy>Tade Mf</cp:lastModifiedBy>
  <cp:revision>12</cp:revision>
  <dcterms:created xsi:type="dcterms:W3CDTF">2025-07-23T00:59:00Z</dcterms:created>
  <dcterms:modified xsi:type="dcterms:W3CDTF">2026-04-28T16:45:43Z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452B47F7324A43DC8400CF467F62F9F6_11</vt:lpwstr>
  </property>
  <property fmtid="{D5CDD505-2E9C-101B-9397-08002B2CF9AE}" pid="3" name="KSOProductBuildVer">
    <vt:lpwstr>1033-12.1.0.25862</vt:lpwstr>
  </property>
</Properties>
</file>